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3E8E63"/>
              </a:solidFill>
            </c:spPr>
          </c:dPt>
          <c:dPt>
            <c:idx val="1"/>
            <c:spPr>
              <a:solidFill>
                <a:srgbClr val="6A5AD8"/>
              </a:solidFill>
            </c:spPr>
          </c:dPt>
          <c:dPt>
            <c:idx val="2"/>
            <c:spPr>
              <a:solidFill>
                <a:srgbClr val="3E8E63"/>
              </a:solidFill>
            </c:spPr>
          </c:dPt>
          <c:dPt>
            <c:idx val="3"/>
            <c:spPr>
              <a:solidFill>
                <a:srgbClr val="3E8E63"/>
              </a:solidFill>
            </c:spPr>
          </c:dPt>
          <c:dPt>
            <c:idx val="4"/>
            <c:spPr>
              <a:solidFill>
                <a:srgbClr val="3E8E63"/>
              </a:solidFill>
            </c:spPr>
          </c:dPt>
          <c:dPt>
            <c:idx val="5"/>
            <c:spPr>
              <a:solidFill>
                <a:srgbClr val="6A5AD8"/>
              </a:solidFill>
            </c:spPr>
          </c:dPt>
          <c:dPt>
            <c:idx val="6"/>
            <c:spPr>
              <a:solidFill>
                <a:srgbClr val="C1272D"/>
              </a:solidFill>
            </c:spPr>
          </c:dPt>
          <c:dPt>
            <c:idx val="7"/>
            <c:spPr>
              <a:solidFill>
                <a:srgbClr val="C1272D"/>
              </a:solidFill>
            </c:spPr>
          </c:dPt>
          <c:dPt>
            <c:idx val="8"/>
            <c:spPr>
              <a:solidFill>
                <a:srgbClr val="6A5AD8"/>
              </a:solidFill>
            </c:spPr>
          </c:dPt>
          <c:dPt>
            <c:idx val="9"/>
            <c:spPr>
              <a:solidFill>
                <a:srgbClr val="C1272D"/>
              </a:solidFill>
            </c:spPr>
          </c:dPt>
          <c:dPt>
            <c:idx val="10"/>
            <c:spPr>
              <a:solidFill>
                <a:srgbClr val="C1272D"/>
              </a:solidFill>
            </c:spPr>
          </c:dPt>
          <c:dPt>
            <c:idx val="11"/>
            <c:spPr>
              <a:solidFill>
                <a:srgbClr val="C1272D"/>
              </a:solidFill>
            </c:spPr>
          </c:dPt>
          <c:dPt>
            <c:idx val="12"/>
            <c:spPr>
              <a:solidFill>
                <a:srgbClr val="6A5AD8"/>
              </a:solidFill>
            </c:spPr>
          </c:dPt>
          <c:dPt>
            <c:idx val="13"/>
            <c:spPr>
              <a:solidFill>
                <a:srgbClr val="C1272D"/>
              </a:solidFill>
            </c:spPr>
          </c:dPt>
          <c:dPt>
            <c:idx val="14"/>
            <c:spPr>
              <a:solidFill>
                <a:srgbClr val="C1272D"/>
              </a:solidFill>
            </c:spPr>
          </c:dPt>
          <c:dPt>
            <c:idx val="15"/>
            <c:spPr>
              <a:solidFill>
                <a:srgbClr val="C1272D"/>
              </a:solidFill>
            </c:spPr>
          </c:dPt>
          <c:cat>
            <c:strRef>
              <c:f>Sheet1!$A$2:$A$17</c:f>
              <c:strCache>
                <c:ptCount val="16"/>
                <c:pt idx="0">
                  <c:v>INFP</c:v>
                </c:pt>
                <c:pt idx="1">
                  <c:v>INTP</c:v>
                </c:pt>
                <c:pt idx="2">
                  <c:v>ENFP</c:v>
                </c:pt>
                <c:pt idx="3">
                  <c:v>INFJ</c:v>
                </c:pt>
                <c:pt idx="4">
                  <c:v>ENFJ</c:v>
                </c:pt>
                <c:pt idx="5">
                  <c:v>ENTP</c:v>
                </c:pt>
                <c:pt idx="6">
                  <c:v>ISFJ</c:v>
                </c:pt>
                <c:pt idx="7">
                  <c:v>ESFP</c:v>
                </c:pt>
                <c:pt idx="8">
                  <c:v>INTJ</c:v>
                </c:pt>
                <c:pt idx="9">
                  <c:v>ISTP</c:v>
                </c:pt>
                <c:pt idx="10">
                  <c:v>ISFP</c:v>
                </c:pt>
                <c:pt idx="11">
                  <c:v>ISTJ</c:v>
                </c:pt>
                <c:pt idx="12">
                  <c:v>ENTJ</c:v>
                </c:pt>
                <c:pt idx="13">
                  <c:v>ESFJ</c:v>
                </c:pt>
                <c:pt idx="14">
                  <c:v>ESTP</c:v>
                </c:pt>
                <c:pt idx="15">
                  <c:v>ESTJ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20</c:v>
                </c:pt>
                <c:pt idx="1">
                  <c:v>18</c:v>
                </c:pt>
                <c:pt idx="2">
                  <c:v>17</c:v>
                </c:pt>
                <c:pt idx="3">
                  <c:v>15</c:v>
                </c:pt>
                <c:pt idx="4">
                  <c:v>11</c:v>
                </c:pt>
                <c:pt idx="5">
                  <c:v>10</c:v>
                </c:pt>
                <c:pt idx="6">
                  <c:v>10</c:v>
                </c:pt>
                <c:pt idx="7">
                  <c:v>9</c:v>
                </c:pt>
                <c:pt idx="8">
                  <c:v>9</c:v>
                </c:pt>
                <c:pt idx="9">
                  <c:v>8</c:v>
                </c:pt>
                <c:pt idx="10">
                  <c:v>7</c:v>
                </c:pt>
                <c:pt idx="11">
                  <c:v>7</c:v>
                </c:pt>
                <c:pt idx="12">
                  <c:v>6</c:v>
                </c:pt>
                <c:pt idx="13">
                  <c:v>5</c:v>
                </c:pt>
                <c:pt idx="14">
                  <c:v>5</c:v>
                </c:pt>
                <c:pt idx="15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5A6473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73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C1272D"/>
              </a:solidFill>
            </c:spPr>
          </c:dPt>
          <c:dPt>
            <c:idx val="1"/>
            <c:spPr>
              <a:solidFill>
                <a:srgbClr val="14213D"/>
              </a:solidFill>
            </c:spPr>
          </c:dPt>
          <c:dPt>
            <c:idx val="2"/>
            <c:spPr>
              <a:solidFill>
                <a:srgbClr val="C1272D"/>
              </a:solidFill>
            </c:spPr>
          </c:dPt>
          <c:dPt>
            <c:idx val="3"/>
            <c:spPr>
              <a:solidFill>
                <a:srgbClr val="14213D"/>
              </a:solidFill>
            </c:spPr>
          </c:dPt>
          <c:dPt>
            <c:idx val="4"/>
            <c:spPr>
              <a:solidFill>
                <a:srgbClr val="C1272D"/>
              </a:solidFill>
            </c:spPr>
          </c:dPt>
          <c:dPt>
            <c:idx val="5"/>
            <c:spPr>
              <a:solidFill>
                <a:srgbClr val="14213D"/>
              </a:solidFill>
            </c:spPr>
          </c:dPt>
          <c:dPt>
            <c:idx val="6"/>
            <c:spPr>
              <a:solidFill>
                <a:srgbClr val="C1272D"/>
              </a:solidFill>
            </c:spPr>
          </c:dPt>
          <c:dPt>
            <c:idx val="7"/>
            <c:spPr>
              <a:solidFill>
                <a:srgbClr val="14213D"/>
              </a:solidFill>
            </c:spPr>
          </c:dPt>
          <c:cat>
            <c:strRef>
              <c:f>Sheet1!$A$2:$A$9</c:f>
              <c:strCache>
                <c:ptCount val="8"/>
                <c:pt idx="0">
                  <c:v>E 外倾</c:v>
                </c:pt>
                <c:pt idx="1">
                  <c:v>I 内倾</c:v>
                </c:pt>
                <c:pt idx="2">
                  <c:v>S 实感</c:v>
                </c:pt>
                <c:pt idx="3">
                  <c:v>N 直觉</c:v>
                </c:pt>
                <c:pt idx="4">
                  <c:v>T 思考</c:v>
                </c:pt>
                <c:pt idx="5">
                  <c:v>F 情感</c:v>
                </c:pt>
                <c:pt idx="6">
                  <c:v>J 判断</c:v>
                </c:pt>
                <c:pt idx="7">
                  <c:v>P 知觉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45.9</c:v>
                </c:pt>
                <c:pt idx="1">
                  <c:v>54.1</c:v>
                </c:pt>
                <c:pt idx="2">
                  <c:v>42.3</c:v>
                </c:pt>
                <c:pt idx="3">
                  <c:v>57.7</c:v>
                </c:pt>
                <c:pt idx="4">
                  <c:v>45.7</c:v>
                </c:pt>
                <c:pt idx="5">
                  <c:v>54.3</c:v>
                </c:pt>
                <c:pt idx="6">
                  <c:v>47.0</c:v>
                </c:pt>
                <c:pt idx="7">
                  <c:v>53.0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solidFill>
                    <a:srgbClr val="5A6473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73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23444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8B23A"/>
                </a:solidFill>
                <a:latin typeface="Microsoft YaHei"/>
              </a:rPr>
              <a:t>《人工智能导论》实践任务三 · CodeBuddy 初探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6492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用 AI 编程助手</a:t>
            </a:r>
          </a:p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从零做出两个网站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310128"/>
            <a:ext cx="822960" cy="2103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352044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D8DFF0"/>
                </a:solidFill>
                <a:latin typeface="Microsoft YaHei"/>
              </a:rPr>
              <a:t>① 网页版 MBTI 16 型人格测试与数据分析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D8DFF0"/>
                </a:solidFill>
                <a:latin typeface="Microsoft YaHei"/>
              </a:rPr>
              <a:t>② “我的家乡”吉林四平文旅主题网站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3D08A"/>
                </a:solidFill>
                <a:latin typeface="Microsoft YaHei"/>
              </a:rPr>
              <a:t>https://btbct.github.io/mbti-test/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3D08A"/>
                </a:solidFill>
                <a:latin typeface="Microsoft YaHei"/>
              </a:rPr>
              <a:t>https://btbct.github.io/siping-hometown/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71500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9AA5B8"/>
                </a:solidFill>
                <a:latin typeface="Microsoft YaHei"/>
              </a:rPr>
              <a:t>班级：____________　小组：____________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9AA5B8"/>
                </a:solidFill>
                <a:latin typeface="Microsoft YaHei"/>
              </a:rPr>
              <a:t>姓名（学号）：__________________________</a:t>
            </a:r>
          </a:p>
        </p:txBody>
      </p:sp>
      <p:pic>
        <p:nvPicPr>
          <p:cNvPr id="10" name="Picture 9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960120"/>
            <a:ext cx="4526280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95160" y="960120"/>
            <a:ext cx="4526280" cy="4937760"/>
          </a:xfrm>
          <a:prstGeom prst="roundRect">
            <a:avLst>
              <a:gd name="adj" fmla="val 2000"/>
            </a:avLst>
          </a:prstGeom>
          <a:noFill/>
          <a:ln w="1524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8B23A"/>
                </a:solidFill>
                <a:latin typeface="Microsoft YaHe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</a:rPr>
              <a:t>汇报结构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8"/>
                </a:solidFill>
                <a:latin typeface="Microsoft YaHei"/>
              </a:rPr>
              <a:t>按任务书的三项实践内容组织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10874959" cy="932688"/>
          </a:xfrm>
          <a:prstGeom prst="roundRect">
            <a:avLst>
              <a:gd name="adj" fmla="val 45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167128"/>
            <a:ext cx="68580" cy="53035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42415" y="2203704"/>
            <a:ext cx="457200" cy="45720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4213D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2185415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实践方案设计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53288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8"/>
                </a:solidFill>
                <a:latin typeface="Microsoft YaHei"/>
              </a:rPr>
              <a:t>任务拆解 · AI Coding 闭环 · 环境设置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44952"/>
            <a:ext cx="10874959" cy="932688"/>
          </a:xfrm>
          <a:prstGeom prst="roundRect">
            <a:avLst>
              <a:gd name="adj" fmla="val 45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68580" cy="53035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042415" y="3282696"/>
            <a:ext cx="457200" cy="45720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4213D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3264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关键提示词实录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6118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8"/>
                </a:solidFill>
                <a:latin typeface="Microsoft YaHei"/>
              </a:rPr>
              <a:t>需求表达 → 约束条件 → 反馈优化，共 10 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23944"/>
            <a:ext cx="10874959" cy="932688"/>
          </a:xfrm>
          <a:prstGeom prst="roundRect">
            <a:avLst>
              <a:gd name="adj" fmla="val 45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4325112"/>
            <a:ext cx="68580" cy="53035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042415" y="4361688"/>
            <a:ext cx="457200" cy="45720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4213D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4343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两个网站成果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469087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8"/>
                </a:solidFill>
                <a:latin typeface="Microsoft YaHei"/>
              </a:rPr>
              <a:t>MBTI 测试与数据分析 · 吉林四平文旅站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202936"/>
            <a:ext cx="10874959" cy="932688"/>
          </a:xfrm>
          <a:prstGeom prst="roundRect">
            <a:avLst>
              <a:gd name="adj" fmla="val 45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5404103"/>
            <a:ext cx="68580" cy="53035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042415" y="5440679"/>
            <a:ext cx="457200" cy="45720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4213D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54223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过程记录与复现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576986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8"/>
                </a:solidFill>
                <a:latin typeface="Microsoft YaHei"/>
              </a:rPr>
              <a:t>5 类真实报错排查 · 6 步复现清单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9AA5B8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01 / 实践方案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任务书要什么，我怎么对应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先拆评分点，再决定做什么、做到什么程度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521208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029968"/>
            <a:ext cx="68580" cy="15636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2415" y="213969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430"/>
                </a:solidFill>
                <a:latin typeface="Microsoft YaHei"/>
              </a:rPr>
              <a:t>网页版测试与分析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670048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MBTI 48 题测试：四个维度各 12 题，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每题归属明确，结果有解释，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并做了分布与倾向的可视化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8" y="1828800"/>
            <a:ext cx="521208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099048" y="2029968"/>
            <a:ext cx="68580" cy="15636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83096" y="213969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430"/>
                </a:solidFill>
                <a:latin typeface="Microsoft YaHei"/>
              </a:rPr>
              <a:t>“我的家乡”文旅网站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670048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吉林四平专题站：5 大文旅分类、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12 处景点、5 张文化名片、6 种美食、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4 季玩法，手机端友好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77639"/>
            <a:ext cx="521208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4178807"/>
            <a:ext cx="68580" cy="15636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42415" y="428853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430"/>
                </a:solidFill>
                <a:latin typeface="Microsoft YaHei"/>
              </a:rPr>
              <a:t>记录实施过程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4818888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保留关键提示词原文、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CodeBuddy 相关设置项，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以及 5 类真实报错的排查记录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3977639"/>
            <a:ext cx="521208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99048" y="4178807"/>
            <a:ext cx="68580" cy="15636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83096" y="428853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430"/>
                </a:solidFill>
                <a:latin typeface="Microsoft YaHei"/>
              </a:rPr>
              <a:t>成果展示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4818888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本 PPT + 两个线上站点 + 数据图表，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并给出 6 步可复现的操作清单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一页看完交付了什么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两个独立仓库、两个线上站点，均可通过手机直接访问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2048256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68580" cy="18836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C1272D"/>
                </a:solidFill>
                <a:latin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个上线网站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5643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MBTI 测试站 · 四平文旅站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74519"/>
            <a:ext cx="2048256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834639" y="2075688"/>
            <a:ext cx="68580" cy="18836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090672" y="214884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C1272D"/>
                </a:solidFill>
                <a:latin typeface="Microsoft YaHei"/>
              </a:rP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0632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道测试题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45643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四个维度各 12 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1874519"/>
            <a:ext cx="2048256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10912" y="2075688"/>
            <a:ext cx="68580" cy="18836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66944" y="214884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C1272D"/>
                </a:solidFill>
                <a:latin typeface="Microsoft YaHei"/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30632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张实拍配图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3" y="345643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公开图源，压缩后 6.4MB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87183" y="1874519"/>
            <a:ext cx="2048256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187183" y="2075688"/>
            <a:ext cx="68580" cy="18836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43215" y="214884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C1272D"/>
                </a:solidFill>
                <a:latin typeface="Microsoft YaHei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5" y="30632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秒宣传短片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1775" y="345643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站内图片自动合成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63455" y="1874519"/>
            <a:ext cx="2048256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363455" y="2075688"/>
            <a:ext cx="68580" cy="18836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19487" y="214884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C1272D"/>
                </a:solidFill>
                <a:latin typeface="Microsoft YaHei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7" y="30632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个内容板块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7" y="345643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分类/景点/人文/味道/季节…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434840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线上地址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53492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58368" y="4919472"/>
            <a:ext cx="68580" cy="63093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78407" y="495604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430"/>
                </a:solidFill>
                <a:latin typeface="Microsoft YaHei"/>
              </a:rPr>
              <a:t>MBTI 16 型人格测试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7" y="52395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1272D"/>
                </a:solidFill>
                <a:latin typeface="Microsoft YaHei"/>
              </a:rPr>
              <a:t>https://btbct.github.io/mbti-test/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4800600"/>
            <a:ext cx="524865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281928" y="4919472"/>
            <a:ext cx="68580" cy="630936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01968" y="495604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430"/>
                </a:solidFill>
                <a:latin typeface="Microsoft YaHei"/>
              </a:rPr>
              <a:t>我的家乡 · 吉林四平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52395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1272D"/>
                </a:solidFill>
                <a:latin typeface="Microsoft YaHei"/>
              </a:rPr>
              <a:t>https://btbct.github.io/siping-hometown/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01 / 实践方案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AI Coding 的四步闭环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需求表达 → 语义理解 → 代码生成 → 反馈优化，本次实践完整跑通了 5 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2487168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167128"/>
            <a:ext cx="68580" cy="22494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69264" y="2240280"/>
            <a:ext cx="475488" cy="475488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8529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430"/>
                </a:solidFill>
                <a:latin typeface="Microsoft YaHei"/>
              </a:rPr>
              <a:t>需求表达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3310128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把任务书拆成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“两个网站 + 一份数据分析”，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并给出参考站链接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306324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E8B23A"/>
                </a:solidFill>
                <a:latin typeface="Microsoft YaHe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965960"/>
            <a:ext cx="2487168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00984" y="2167128"/>
            <a:ext cx="68580" cy="22494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611880" y="2240280"/>
            <a:ext cx="475488" cy="475488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8529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430"/>
                </a:solidFill>
                <a:latin typeface="Microsoft YaHei"/>
              </a:rPr>
              <a:t>语义理解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310128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AI 读取参考站 HTML/CSS，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归纳出“首页—答题—结果—分析”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四视图结构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306324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E8B23A"/>
                </a:solidFill>
                <a:latin typeface="Microsoft YaHe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965960"/>
            <a:ext cx="2487168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0" y="2167128"/>
            <a:ext cx="68580" cy="22494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254496" y="2240280"/>
            <a:ext cx="475488" cy="475488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8529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430"/>
                </a:solidFill>
                <a:latin typeface="Microsoft YaHei"/>
              </a:rPr>
              <a:t>代码生成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310128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按 index / css / js 分层生成，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题库与文案独立成 data.js，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改内容不用碰逻辑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06324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E8B23A"/>
                </a:solidFill>
                <a:latin typeface="Microsoft YaHe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86216" y="1965960"/>
            <a:ext cx="2487168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586216" y="2167128"/>
            <a:ext cx="68580" cy="22494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897112" y="2240280"/>
            <a:ext cx="475488" cy="475488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28529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430"/>
                </a:solidFill>
                <a:latin typeface="Microsoft YaHei"/>
              </a:rPr>
              <a:t>反馈优化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3310128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截图自查 + 报错原文回灌，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共修复 5 类问题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（图显、编码、推送、证书、移动端）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892040"/>
            <a:ext cx="10874959" cy="1143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42415" y="513892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E2E8F8"/>
                </a:solidFill>
                <a:latin typeface="Microsoft YaHei"/>
              </a:rPr>
              <a:t>体会：AI 生成的代码八成能直接用，剩下两成靠“把报错原文贴回去”解决。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E2E8F8"/>
                </a:solidFill>
                <a:latin typeface="Microsoft YaHei"/>
              </a:rPr>
              <a:t>真正花时间的是把需求说清楚——说清楚之后，一轮就能拿到可用版本。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02 / 实施过程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环境准备与 CodeBuddy 关键设置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这些设置项决定了后面能不能顺利跑通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340096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68580" cy="288950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430"/>
                </a:solidFill>
                <a:latin typeface="Microsoft YaHei"/>
              </a:rPr>
              <a:t>工具与环境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88336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• CodeBuddy：对话式改代码，直接读写项目文件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46704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• 本地预览：tools/serve.ps1（PowerShell 静态服务器，无需 Node/Python）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0507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• 版本与发布：Git + GitHub Pages，仓库根加 .nojekyll 原样发布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• 图片处理：PowerShell 调 .NET 重编码压缩（10.8MB → 6.4MB）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74519"/>
            <a:ext cx="5340096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190488" y="2075688"/>
            <a:ext cx="68580" cy="288950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37959" y="212140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430"/>
                </a:solidFill>
                <a:latin typeface="Microsoft YaHei"/>
              </a:rPr>
              <a:t>关键设置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688336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• git：http.sslBackend=schannel（绕开 OpenSSL 证书校验失败）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346704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• PowerShell 脚本统一写 UTF-8 with BOM（5.1 缺 BOM 会中文乱码报错）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00507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• tools/deploy.ps1：清洗用户名/仓库名输入、推送失败自动重试 3 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663440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• 移动端：390px 视口断点，首屏数据区改两列栅格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394960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BF7EE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" y="5504688"/>
            <a:ext cx="68580" cy="438912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57784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工作目录：c:\Users\ROG\CodeBuddy\（两个项目各一个独立 git 仓库，互不影响）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8B23A"/>
                </a:solidFill>
                <a:latin typeface="Microsoft YaHei"/>
              </a:rPr>
              <a:t>02 / 关键提示词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</a:rPr>
              <a:t>第一批：需求表达（做什么 + 长什么样）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8"/>
                </a:solidFill>
                <a:latin typeface="Microsoft YaHei"/>
              </a:rPr>
              <a:t>给目标、给参考、给规模，AI 才不会跑偏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10874959" cy="1417320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267712"/>
            <a:ext cx="68580" cy="9144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2415" y="226771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8B23A"/>
                </a:solidFill>
                <a:latin typeface="Microsoft YaHei"/>
              </a:rPr>
              <a:t>提示词 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670048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E8ECFF"/>
                </a:solidFill>
                <a:latin typeface="Microsoft YaHei"/>
              </a:rPr>
              <a:t>帮我做一个网页版 MBTI 性格测试：48 道题，四个维度（E/I、S/N、T/F、J/P）分别计分，要有结果解释和数据分析；界面仿照 https://moyakura.github.io/ai-manju-survey/ 的暗色卡片风。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39312"/>
            <a:ext cx="10874959" cy="1417320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3895344"/>
            <a:ext cx="68580" cy="9144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2415" y="38953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8B23A"/>
                </a:solidFill>
                <a:latin typeface="Microsoft YaHei"/>
              </a:rPr>
              <a:t>提示词 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9768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E8ECFF"/>
                </a:solidFill>
                <a:latin typeface="Microsoft YaHei"/>
              </a:rPr>
              <a:t>再做一个“我的家乡”文旅网站，主题是吉林四平：要有合理的文旅项目分类、景点卡片配图、美食、季节玩法、行程规划，手机上也要好看。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4924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3D08A"/>
                </a:solidFill>
                <a:latin typeface="Microsoft YaHei"/>
              </a:rPr>
              <a:t>要点：一句说清「交付物 + 规模 + 参考对象」，比追问十句更有效。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9AA5B8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8B23A"/>
                </a:solidFill>
                <a:latin typeface="Microsoft YaHei"/>
              </a:rPr>
              <a:t>02 / 关键提示词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</a:rPr>
              <a:t>第二批：约束条件与代码组织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8"/>
                </a:solidFill>
                <a:latin typeface="Microsoft YaHei"/>
              </a:rPr>
              <a:t>把边界和可维护性讲清楚，能省掉一轮返工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0874959" cy="1024128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68580" cy="640080"/>
          </a:xfrm>
          <a:prstGeom prst="rect">
            <a:avLst/>
          </a:prstGeom>
          <a:solidFill>
            <a:srgbClr val="E0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2415" y="20391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E05A5F"/>
                </a:solidFill>
                <a:latin typeface="Microsoft YaHei"/>
              </a:rPr>
              <a:t>提示词 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368296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8ECFF"/>
                </a:solidFill>
                <a:latin typeface="Microsoft YaHei"/>
              </a:rPr>
              <a:t>题库用公开流传的 48 题版；注意第 31 题是反向题（A 选项对应情感），计分时别算反；每题顺序和 A/B 选项位置都要随机。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63239"/>
            <a:ext cx="10874959" cy="1024128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3264408"/>
            <a:ext cx="68580" cy="640080"/>
          </a:xfrm>
          <a:prstGeom prst="rect">
            <a:avLst/>
          </a:prstGeom>
          <a:solidFill>
            <a:srgbClr val="E0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2415" y="32278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E05A5F"/>
                </a:solidFill>
                <a:latin typeface="Microsoft YaHei"/>
              </a:rPr>
              <a:t>提示词 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3557015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8ECFF"/>
                </a:solidFill>
                <a:latin typeface="Microsoft YaHei"/>
              </a:rPr>
              <a:t>把题库和 16 型人格文案单独放到 js/data.js，页面结构和交互逻辑分开，我以后只改数据文件就能换内容。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51959"/>
            <a:ext cx="10874959" cy="1024128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4453127"/>
            <a:ext cx="68580" cy="640080"/>
          </a:xfrm>
          <a:prstGeom prst="rect">
            <a:avLst/>
          </a:prstGeom>
          <a:solidFill>
            <a:srgbClr val="E0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42415" y="441655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E05A5F"/>
                </a:solidFill>
                <a:latin typeface="Microsoft YaHei"/>
              </a:rPr>
              <a:t>提示词 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4745736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8ECFF"/>
                </a:solidFill>
                <a:latin typeface="Microsoft YaHei"/>
              </a:rPr>
              <a:t>网站要能在手机上打开，图片压缩一下，别让首屏加载太久。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44068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3D08A"/>
                </a:solidFill>
                <a:latin typeface="Microsoft YaHei"/>
              </a:rPr>
              <a:t>效果：数据与逻辑分离后，换题库、改文案都不用碰代码，也不会引入新 bug。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9AA5B8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E8B23A"/>
                </a:solidFill>
                <a:latin typeface="Microsoft YaHei"/>
              </a:rPr>
              <a:t>02 / 关键提示词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</a:rPr>
              <a:t>第三批：反馈优化（把报错原文贴回去）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8"/>
                </a:solidFill>
                <a:latin typeface="Microsoft YaHei"/>
              </a:rPr>
              <a:t>这是 AI Coding 里最省时间的一步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10874959" cy="914400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68580" cy="58521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19751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8B23A"/>
                </a:solidFill>
                <a:latin typeface="Microsoft YaHei"/>
              </a:rPr>
              <a:t>提示词 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1975104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CFF"/>
                </a:solidFill>
                <a:latin typeface="Microsoft YaHei"/>
              </a:rPr>
              <a:t>卡片里的图片显示不出来，只有深色块，帮我查原因。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12140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 i="0">
                <a:solidFill>
                  <a:srgbClr val="F3D08A"/>
                </a:solidFill>
                <a:latin typeface="Microsoft YaHei"/>
              </a:rPr>
              <a:t>→ 占位层 z-index 盖住了 img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34640"/>
            <a:ext cx="10874959" cy="914400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3017520"/>
            <a:ext cx="68580" cy="58521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9809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8B23A"/>
                </a:solidFill>
                <a:latin typeface="Microsoft YaHei"/>
              </a:rPr>
              <a:t>提示词 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980944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CFF"/>
                </a:solidFill>
                <a:latin typeface="Microsoft YaHei"/>
              </a:rPr>
              <a:t>手机上看首屏有横向溢出，文字被切掉了。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31272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 i="0">
                <a:solidFill>
                  <a:srgbClr val="F3D08A"/>
                </a:solidFill>
                <a:latin typeface="Microsoft YaHei"/>
              </a:rPr>
              <a:t>→ 首屏数据区改两列栅格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40480"/>
            <a:ext cx="10874959" cy="914400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4023360"/>
            <a:ext cx="68580" cy="58521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39867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8B23A"/>
                </a:solidFill>
                <a:latin typeface="Microsoft YaHei"/>
              </a:rPr>
              <a:t>提示词 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1448" y="3986784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CFF"/>
                </a:solidFill>
                <a:latin typeface="Microsoft YaHei"/>
              </a:rPr>
              <a:t>脚本报 UnexpectedToken；推送提示 repository not found / SSL certificate problem。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41330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 i="0">
                <a:solidFill>
                  <a:srgbClr val="F3D08A"/>
                </a:solidFill>
                <a:latin typeface="Microsoft YaHei"/>
              </a:rPr>
              <a:t>→ BOM 编码 · 用户名清洗 · schannel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46320"/>
            <a:ext cx="10874959" cy="914400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2C3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5029200"/>
            <a:ext cx="68580" cy="58521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24128" y="49926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8B23A"/>
                </a:solidFill>
                <a:latin typeface="Microsoft YaHei"/>
              </a:rPr>
              <a:t>提示词 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1448" y="4992624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CFF"/>
                </a:solidFill>
                <a:latin typeface="Microsoft YaHei"/>
              </a:rPr>
              <a:t>网站要有视频素材，用站内图片生成一段 20 秒宣传短片并嵌进页面。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513892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 i="0">
                <a:solidFill>
                  <a:srgbClr val="F3D08A"/>
                </a:solidFill>
                <a:latin typeface="Microsoft YaHei"/>
              </a:rPr>
              <a:t>→ ffmpeg 合成 + video 区块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AA5B8"/>
                </a:solidFill>
                <a:latin typeface="Microsoft YaHei"/>
              </a:rPr>
              <a:t>提示词 ⑩（本次）：按实践任务三的要求做一份汇报 PPT，两个网站、提示词、实施过程、数据分析都放进去。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9AA5B8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03 / 成果一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MBTI 16 型人格测试站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48 题 · 四维度计分 · 结果解释 · 本地数据统计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6035040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68580" cy="6217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205740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B2430"/>
                </a:solidFill>
                <a:latin typeface="Microsoft YaHei"/>
              </a:rPr>
              <a:t>题库与防偏差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0487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48 题 = 4 维度 × 12 题；题目顺序与 A/B 位置每次随机，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避免“位置暗示答案”；第 31 题反向计分单独标注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08376"/>
            <a:ext cx="6035040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3209544"/>
            <a:ext cx="68580" cy="6217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319125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B2430"/>
                </a:solidFill>
                <a:latin typeface="Microsoft YaHei"/>
              </a:rPr>
              <a:t>计分与结果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53872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按所选极计票 → 算百分比 → 每维度多数决 → 拼四字母；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结果页给出维度条形图、优势/盲区、适合方向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42232"/>
            <a:ext cx="6035040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4343400"/>
            <a:ext cx="68580" cy="6217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432511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B2430"/>
                </a:solidFill>
                <a:latin typeface="Microsoft YaHei"/>
              </a:rPr>
              <a:t>数据分析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67258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结果存入浏览器 localStorage，可看 16 型分布排行、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四维度平均倾向，支持导出 CSV、载入示例数据、一键清空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276088"/>
            <a:ext cx="6035040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5477256"/>
            <a:ext cx="68580" cy="621792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24128" y="54589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B2430"/>
                </a:solidFill>
                <a:latin typeface="Microsoft YaHei"/>
              </a:rPr>
              <a:t>工程实现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58064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纯静态零依赖；index / css / js 分层，题库与文案独立；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独立仓库 btbct/mbti-test，GitHub Pages 发布</a:t>
            </a:r>
          </a:p>
        </p:txBody>
      </p:sp>
      <p:pic>
        <p:nvPicPr>
          <p:cNvPr id="21" name="Picture 20" descr="mb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74519"/>
            <a:ext cx="4663440" cy="42062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858000" y="1874519"/>
            <a:ext cx="4663440" cy="42062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0" y="614476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A6473"/>
                </a:solidFill>
                <a:latin typeface="Microsoft YaHei"/>
              </a:rPr>
              <a:t>MBTI 测试站首页（暗色卡片风）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03 / 成果一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计分规则：四组偏好，各 12 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每题两选，选哪极就给哪极加一票，最后按多数决定字母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0874959" cy="475488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4128" y="20025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025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题数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9007" y="20025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两极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20025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在问什么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41448"/>
            <a:ext cx="10874959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64261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B2430"/>
                </a:solidFill>
                <a:latin typeface="Microsoft YaHei"/>
              </a:rPr>
              <a:t>能量来源 E /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64261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7" y="264261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外倾 · 内倾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64261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注意力投向外部世界还是内心世界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191256"/>
            <a:ext cx="10874959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24128" y="3392424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B2430"/>
                </a:solidFill>
                <a:latin typeface="Microsoft YaHei"/>
              </a:rPr>
              <a:t>获取信息 S /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39242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7" y="339242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实感 · 直觉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339242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相信事实细节，还是联想与可能性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41063"/>
            <a:ext cx="10874959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4142231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B2430"/>
                </a:solidFill>
                <a:latin typeface="Microsoft YaHei"/>
              </a:rPr>
              <a:t>决策方式 T / 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4142231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7" y="4142231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思考 · 情感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4142231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按逻辑准则判断，还是按人情价值取舍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690872"/>
            <a:ext cx="10874959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24128" y="48920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B2430"/>
                </a:solidFill>
                <a:latin typeface="Microsoft YaHei"/>
              </a:rPr>
              <a:t>生活态度 J / 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8920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7" y="489204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判断 · 知觉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89204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偏好计划收束，还是保留弹性与可能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40680"/>
            <a:ext cx="10874959" cy="777240"/>
          </a:xfrm>
          <a:prstGeom prst="roundRect">
            <a:avLst>
              <a:gd name="adj" fmla="val 6000"/>
            </a:avLst>
          </a:prstGeom>
          <a:solidFill>
            <a:srgbClr val="FBF7EE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58368" y="5550408"/>
            <a:ext cx="68580" cy="55778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42415" y="5596128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473"/>
                </a:solidFill>
                <a:latin typeface="Microsoft YaHei"/>
              </a:rPr>
              <a:t>自检：全部选 A 得 ESTJ（T 为 91.7%，说明第 31 题反向题确实没算反）；全部选 B 得 INFP。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03 / 成果一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结果页：不只是四个字母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类型代号 + 中文名/族群 + 四维度百分比 + 优势盲区 + 适合方向</a:t>
            </a:r>
          </a:p>
        </p:txBody>
      </p:sp>
      <p:pic>
        <p:nvPicPr>
          <p:cNvPr id="5" name="Picture 4" descr="mb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489204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874519"/>
            <a:ext cx="4892040" cy="41148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605332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A6473"/>
                </a:solidFill>
                <a:latin typeface="Microsoft YaHei"/>
              </a:rPr>
              <a:t>结果页（示例：INFP 调停者）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16168" y="1874519"/>
            <a:ext cx="5623560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16168" y="2075688"/>
            <a:ext cx="68580" cy="4206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63640" y="20208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① 类型与族群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331720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473"/>
                </a:solidFill>
                <a:latin typeface="Microsoft YaHei"/>
              </a:rPr>
              <a:t>四字母代号 + 中文名，按四大族群（NT/NF/SJ/SP）配色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6168" y="2788920"/>
            <a:ext cx="5623560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16168" y="2990088"/>
            <a:ext cx="68580" cy="4206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29352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② 维度倾向条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246120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473"/>
                </a:solidFill>
                <a:latin typeface="Microsoft YaHei"/>
              </a:rPr>
              <a:t>E/I、S/N、T/F、J/P 各自百分比，落差一眼可见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16168" y="3703320"/>
            <a:ext cx="5623560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16168" y="3904487"/>
            <a:ext cx="68580" cy="4206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63640" y="38496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③ 优势与盲区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160520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473"/>
                </a:solidFill>
                <a:latin typeface="Microsoft YaHei"/>
              </a:rPr>
              <a:t>双栏列出 3 条优势、2 条容易踩的坑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4617720"/>
            <a:ext cx="5623560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916168" y="4818888"/>
            <a:ext cx="68580" cy="4206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63640" y="47640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④ 适合方向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074920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473"/>
                </a:solidFill>
                <a:latin typeface="Microsoft YaHei"/>
              </a:rPr>
              <a:t>给出 3 类可考虑的职业/发展方向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16168" y="5532120"/>
            <a:ext cx="5623560" cy="822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916168" y="5733288"/>
            <a:ext cx="68580" cy="4206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63640" y="56784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B2430"/>
                </a:solidFill>
                <a:latin typeface="Microsoft YaHei"/>
              </a:rPr>
              <a:t>⑤ 留存与分享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989320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473"/>
                </a:solidFill>
                <a:latin typeface="Microsoft YaHei"/>
              </a:rPr>
              <a:t>结果写入本地库，可复制结果文案、再测一次、查看分析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03 / 数据分析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16 型分布：谁最多，谁最少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示例数据 160 份答卷（用于演示分析流程，非真实普查）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" y="1783080"/>
          <a:ext cx="68580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36408" y="1783080"/>
            <a:ext cx="370332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36408" y="1984248"/>
            <a:ext cx="68580" cy="3803903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65592" y="2011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B2430"/>
                </a:solidFill>
                <a:latin typeface="Microsoft YaHei"/>
              </a:rPr>
              <a:t>三条解读</a:t>
            </a:r>
          </a:p>
        </p:txBody>
      </p:sp>
      <p:sp>
        <p:nvSpPr>
          <p:cNvPr id="9" name="Oval 8"/>
          <p:cNvSpPr/>
          <p:nvPr/>
        </p:nvSpPr>
        <p:spPr>
          <a:xfrm>
            <a:off x="8165592" y="2487168"/>
            <a:ext cx="310896" cy="310896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6216" y="2505456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样本 160 份，INFP(20)、INTP(18)、ENFP(17) 居前，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NF 系（理想型）占比最高；</a:t>
            </a:r>
          </a:p>
        </p:txBody>
      </p:sp>
      <p:sp>
        <p:nvSpPr>
          <p:cNvPr id="11" name="Oval 10"/>
          <p:cNvSpPr/>
          <p:nvPr/>
        </p:nvSpPr>
        <p:spPr>
          <a:xfrm>
            <a:off x="8165592" y="3621024"/>
            <a:ext cx="310896" cy="310896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6216" y="3639312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ESTJ(3)、ESFJ(5)、ESTP(5) 最少，SJ 系（稳健型）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在本样本中偏少；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4754880"/>
            <a:ext cx="310896" cy="310896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6216" y="477316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分布形态与同龄学生群体的常见结果一致：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偏内向、偏直觉、偏情感、偏弹性。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80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3"/>
                </a:solidFill>
                <a:latin typeface="Microsoft YaHei"/>
              </a:rPr>
              <a:t>数据来源：测试站「载入示例数据」生成的 160 条记录，可导出 CSV 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03 / 数据分析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四维度平均倾向：整体偏向哪一边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同一批 160 份答卷，按四个维度分别统计平均百分比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" y="1783080"/>
          <a:ext cx="68580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36408" y="1783080"/>
            <a:ext cx="3703320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36408" y="1984248"/>
            <a:ext cx="68580" cy="339242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65592" y="2011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B2430"/>
                </a:solidFill>
                <a:latin typeface="Microsoft YaHei"/>
              </a:rPr>
              <a:t>结论</a:t>
            </a:r>
          </a:p>
        </p:txBody>
      </p:sp>
      <p:sp>
        <p:nvSpPr>
          <p:cNvPr id="9" name="Oval 8"/>
          <p:cNvSpPr/>
          <p:nvPr/>
        </p:nvSpPr>
        <p:spPr>
          <a:xfrm>
            <a:off x="8165592" y="2432304"/>
            <a:ext cx="310896" cy="310896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6216" y="2450592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I 54.1% &gt; E 45.9%：样本整体略偏内倾</a:t>
            </a:r>
          </a:p>
        </p:txBody>
      </p:sp>
      <p:sp>
        <p:nvSpPr>
          <p:cNvPr id="11" name="Oval 10"/>
          <p:cNvSpPr/>
          <p:nvPr/>
        </p:nvSpPr>
        <p:spPr>
          <a:xfrm>
            <a:off x="8165592" y="3300984"/>
            <a:ext cx="310896" cy="310896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6216" y="3319272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N 57.7% &gt; S 42.3%：更关注可能性与意义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4169664"/>
            <a:ext cx="310896" cy="310896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6216" y="4187952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F 54.3% &gt; T 45.7%，P 53.0% &gt; J 47.0%：偏情感、偏弹性</a:t>
            </a:r>
          </a:p>
        </p:txBody>
      </p:sp>
      <p:sp>
        <p:nvSpPr>
          <p:cNvPr id="15" name="Oval 14"/>
          <p:cNvSpPr/>
          <p:nvPr/>
        </p:nvSpPr>
        <p:spPr>
          <a:xfrm>
            <a:off x="8165592" y="5038344"/>
            <a:ext cx="310896" cy="310896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6" y="5056632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四组落差均不足 16 个百分点：类型是倾向，不是标签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0644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5943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2E8F8"/>
                </a:solidFill>
                <a:latin typeface="Microsoft YaHei"/>
              </a:rPr>
              <a:t>说服力来自可复核：所有记录可一键导出 CSV，图表由同一批数据生成，换一批人重测即可复算。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03 / 成果二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我的家乡 · 吉林四平文旅站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9 个板块，从“怎么分类”到“怎么玩”一条线讲完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5340096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029968"/>
            <a:ext cx="68580" cy="56692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B2430"/>
                </a:solidFill>
                <a:latin typeface="Microsoft YaHei"/>
              </a:rPr>
              <a:t>01 文旅分类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红色记忆 / 满族风情 / 湖山自然 / 人文古迹 / 城市烟火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828800"/>
            <a:ext cx="5340096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190488" y="2029968"/>
            <a:ext cx="68580" cy="56692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56248" y="19933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B2430"/>
                </a:solidFill>
                <a:latin typeface="Microsoft YaHei"/>
              </a:rPr>
              <a:t>02 好玩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12 处景点与体验点，卡片看详情与实用贴士，♥ 加入心愿单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44368"/>
            <a:ext cx="5340096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3145536"/>
            <a:ext cx="68580" cy="56692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1089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B2430"/>
                </a:solidFill>
                <a:latin typeface="Microsoft YaHei"/>
              </a:rPr>
              <a:t>03 人文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447287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5 张文化名片：让四平不只是“打过仗的城市”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44368"/>
            <a:ext cx="5340096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90488" y="3145536"/>
            <a:ext cx="68580" cy="56692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56248" y="31089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B2430"/>
                </a:solidFill>
                <a:latin typeface="Microsoft YaHei"/>
              </a:rPr>
              <a:t>04 味道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447287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6 种四平美食：熏肉大饼、烧鸽子…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59935"/>
            <a:ext cx="5340096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4261103"/>
            <a:ext cx="68580" cy="56692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24128" y="4224527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B2430"/>
                </a:solidFill>
                <a:latin typeface="Microsoft YaHei"/>
              </a:rPr>
              <a:t>05 季节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562855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春赏花 / 夏避暑 / 秋斑斓 / 冬戏雪，四季玩法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4059935"/>
            <a:ext cx="5340096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190488" y="4261103"/>
            <a:ext cx="68580" cy="566928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56248" y="4224527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B2430"/>
                </a:solidFill>
                <a:latin typeface="Microsoft YaHei"/>
              </a:rPr>
              <a:t>06-09 其他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4562855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行程规划 · 实用贴士 · 关于四平 · 资料来源可展开</a:t>
            </a:r>
          </a:p>
        </p:txBody>
      </p:sp>
      <p:pic>
        <p:nvPicPr>
          <p:cNvPr id="29" name="Picture 28" descr="home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5212080"/>
            <a:ext cx="5340096" cy="109728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190488" y="5212080"/>
            <a:ext cx="5340096" cy="10972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03 / 成果二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友好交互与富媒体素材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文字 + 32 张配图 + 20 秒宣传短片，统一风格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108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029968"/>
            <a:ext cx="68580" cy="5120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87552" y="19568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B2430"/>
                </a:solidFill>
                <a:latin typeface="Microsoft YaHei"/>
              </a:rPr>
              <a:t>分类筛选与详情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9424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点标签即筛选，点卡片弹窗看详情、贴士与来源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0208" y="1828800"/>
            <a:ext cx="3108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950208" y="2029968"/>
            <a:ext cx="68580" cy="5120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19568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B2430"/>
                </a:solidFill>
                <a:latin typeface="Microsoft YaHei"/>
              </a:rPr>
              <a:t>心愿单与行程规划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2249424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♥ 收藏景点；按兴趣与天数自动生成路线与用餐建议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108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3081528"/>
            <a:ext cx="68580" cy="5120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7552" y="30083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B2430"/>
                </a:solidFill>
                <a:latin typeface="Microsoft YaHei"/>
              </a:rPr>
              <a:t>进度条与锚点导航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300984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顶部阅读进度条 + 9 个板块一键跳转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208" y="2880360"/>
            <a:ext cx="3108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950208" y="3081528"/>
            <a:ext cx="68580" cy="5120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279392" y="30083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B2430"/>
                </a:solidFill>
                <a:latin typeface="Microsoft YaHei"/>
              </a:rPr>
              <a:t>响应式适配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3300984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390px 手机视口重排，首屏数据两列、卡片单列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3108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4133087"/>
            <a:ext cx="68580" cy="5120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7552" y="405993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B2430"/>
                </a:solidFill>
                <a:latin typeface="Microsoft YaHei"/>
              </a:rPr>
              <a:t>资料可溯源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352544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“资料来源与数据出处”可展开，注明出处与许可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50208" y="3931920"/>
            <a:ext cx="310896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3950208" y="4133087"/>
            <a:ext cx="68580" cy="512064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279392" y="405993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B2430"/>
                </a:solidFill>
                <a:latin typeface="Microsoft YaHei"/>
              </a:rPr>
              <a:t>性能取舍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4352544"/>
            <a:ext cx="2560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6473"/>
                </a:solidFill>
                <a:latin typeface="Microsoft YaHei"/>
              </a:rPr>
              <a:t>配图统一压缩：10.8MB → 6.4MB，手机流量也能打开</a:t>
            </a:r>
          </a:p>
        </p:txBody>
      </p:sp>
      <p:pic>
        <p:nvPicPr>
          <p:cNvPr id="29" name="Picture 28" descr="s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1828800"/>
            <a:ext cx="4151376" cy="260604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379208" y="1828800"/>
            <a:ext cx="4151376" cy="26060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s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4572000"/>
            <a:ext cx="2011680" cy="118872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379208" y="4572000"/>
            <a:ext cx="2011680" cy="118872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spi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4" y="4572000"/>
            <a:ext cx="201168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518904" y="4572000"/>
            <a:ext cx="2011680" cy="118872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7379208" y="5897880"/>
            <a:ext cx="4151376" cy="50292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379208" y="6016752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E2E8F8"/>
                </a:solidFill>
                <a:latin typeface="Microsoft YaHei"/>
              </a:rPr>
              <a:t>20 秒宣传短片 · 由站内图片自动合成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1272D"/>
                </a:solidFill>
                <a:latin typeface="Microsoft YaHei"/>
              </a:rPr>
              <a:t>04 / 过程记录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1B2430"/>
                </a:solidFill>
                <a:latin typeface="Microsoft YaHei"/>
              </a:rPr>
              <a:t>踩过的坑与排查结论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3"/>
                </a:solidFill>
                <a:latin typeface="Microsoft YaHei"/>
              </a:rPr>
              <a:t>每一条都来自本次实践的真实报错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56816"/>
            <a:ext cx="68580" cy="4572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87552" y="204825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C1272D"/>
                </a:solidFill>
                <a:latin typeface="Microsoft YaHei"/>
              </a:rPr>
              <a:t>卡片图片只显示深色块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20482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占位渐变层 z-index 高于静态 img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3488" y="204825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Microsoft YaHei"/>
              </a:rPr>
              <a:t>img 加 relative/z-index，加载成功后隐藏占位层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87752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2715768"/>
            <a:ext cx="68580" cy="4572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C1272D"/>
                </a:solidFill>
                <a:latin typeface="Microsoft YaHei"/>
              </a:rPr>
              <a:t>一张配图下半截发灰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28072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图片下载被截断，非完整 JPEG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28072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Microsoft YaHei"/>
              </a:rPr>
              <a:t>校验 EOI 结尾标记，重新下载并全量复检 32 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46704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3474720"/>
            <a:ext cx="68580" cy="4572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87552" y="35661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C1272D"/>
                </a:solidFill>
                <a:latin typeface="Microsoft YaHei"/>
              </a:rPr>
              <a:t>PowerShell 脚本报 UnexpectedToken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3566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UTF-8 无 BOM 被 5.1 按 GBK 解码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5661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Microsoft YaHei"/>
              </a:rPr>
              <a:t>脚本统一写 UTF-8 with BOM，并做语法校验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105656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4233672"/>
            <a:ext cx="68580" cy="4572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7552" y="43251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C1272D"/>
                </a:solidFill>
                <a:latin typeface="Microsoft YaHei"/>
              </a:rPr>
              <a:t>推送报 repository not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43251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用户名填成了中文昵称（含全角括号）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432511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Microsoft YaHei"/>
              </a:rPr>
              <a:t>脚本自动清洗并校验用户名/仓库名格式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64608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8368" y="4992624"/>
            <a:ext cx="68580" cy="4572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87552" y="50840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C1272D"/>
                </a:solidFill>
                <a:latin typeface="Microsoft YaHei"/>
              </a:rPr>
              <a:t>推送报 SSL certificate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50840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Git 自带 OpenSSL 证书链校验失败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508406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Microsoft YaHei"/>
              </a:rPr>
              <a:t>改用 Windows 系统证书库（http.sslBackend=schannel）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23560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58368" y="5751576"/>
            <a:ext cx="68580" cy="4572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87552" y="584301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C1272D"/>
                </a:solidFill>
                <a:latin typeface="Microsoft YaHei"/>
              </a:rPr>
              <a:t>手机首屏横向溢出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584301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Microsoft YaHei"/>
              </a:rPr>
              <a:t>数据区一行挤爆容器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3488" y="584301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Microsoft YaHei"/>
              </a:rPr>
              <a:t>首屏数据区改两列栅格，字号与内边距微调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473"/>
                </a:solidFill>
                <a:latin typeface="Microsoft YaHei"/>
              </a:rPr>
              <a:t>实践任务三 · CodeBuddy 初探 ｜ 《人工智能导论》课程实践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6047" y="64190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A6473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8B23A"/>
                </a:solidFill>
                <a:latin typeface="Microsoft YaHei"/>
              </a:rPr>
              <a:t>04 /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</a:rPr>
              <a:t>六步即可复现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6126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2E8F8"/>
                </a:solidFill>
                <a:latin typeface="Microsoft YaHei"/>
              </a:rPr>
              <a:t>安装 CodeBuddy，新建一个空工作目录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86584"/>
            <a:ext cx="384048" cy="384048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32303"/>
            <a:ext cx="6126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2E8F8"/>
                </a:solidFill>
                <a:latin typeface="Microsoft YaHei"/>
              </a:rPr>
              <a:t>按「需求表达 → 约束条件 → 反馈优化」的顺序提需求（提示词见第 7–9 页）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990088"/>
            <a:ext cx="384048" cy="384048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35808"/>
            <a:ext cx="6126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2E8F8"/>
                </a:solidFill>
                <a:latin typeface="Microsoft YaHei"/>
              </a:rPr>
              <a:t>本地 tools/serve.ps1 起服务，边看边改，截图自查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93592"/>
            <a:ext cx="384048" cy="384048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639312"/>
            <a:ext cx="6126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2E8F8"/>
                </a:solidFill>
                <a:latin typeface="Microsoft YaHei"/>
              </a:rPr>
              <a:t>git init → 提交 → tools/deploy.ps1 一键推送（失败会自动换证书后端重试）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97096"/>
            <a:ext cx="384048" cy="384048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42816"/>
            <a:ext cx="6126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2E8F8"/>
                </a:solidFill>
                <a:latin typeface="Microsoft YaHei"/>
              </a:rPr>
              <a:t>GitHub Pages 选 main / (root)，等 1–2 分钟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800600"/>
            <a:ext cx="384048" cy="384048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4213D"/>
                </a:solidFill>
                <a:latin typeface="Microsoft YaHe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46320"/>
            <a:ext cx="6126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2E8F8"/>
                </a:solidFill>
                <a:latin typeface="Microsoft YaHei"/>
              </a:rPr>
              <a:t>手机打开网址验收，数据页可导出 CSV 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体会：AI 不是替你写代码，而是把「能不能把需求说清楚」</a:t>
            </a:r>
          </a:p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直接变成生产力。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97880"/>
            <a:ext cx="6400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3D08A"/>
                </a:solidFill>
                <a:latin typeface="Microsoft YaHei"/>
              </a:rPr>
              <a:t>https://btbct.github.io/mbti-test/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3D08A"/>
                </a:solidFill>
                <a:latin typeface="Microsoft YaHei"/>
              </a:rPr>
              <a:t>https://btbct.github.io/siping-hometown/</a:t>
            </a:r>
          </a:p>
        </p:txBody>
      </p:sp>
      <p:pic>
        <p:nvPicPr>
          <p:cNvPr id="20" name="Picture 19" descr="end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657600" cy="38404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772400" y="1463040"/>
            <a:ext cx="3657600" cy="3840480"/>
          </a:xfrm>
          <a:prstGeom prst="roundRect">
            <a:avLst>
              <a:gd name="adj" fmla="val 2000"/>
            </a:avLst>
          </a:prstGeom>
          <a:noFill/>
          <a:ln w="1524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